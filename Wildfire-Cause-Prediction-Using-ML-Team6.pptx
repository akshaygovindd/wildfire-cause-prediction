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Relationship Id="rId23" Type="http://schemas.openxmlformats.org/officeDocument/2006/relationships/font" Target="fonts/font5.fntdata"/><Relationship Id="rId24" Type="http://schemas.openxmlformats.org/officeDocument/2006/relationships/font" Target="fonts/font6.fntdata"/><Relationship Id="rId25" Type="http://schemas.openxmlformats.org/officeDocument/2006/relationships/font" Target="fonts/font7.fntdata"/><Relationship Id="rId26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2" Type="http://schemas.openxmlformats.org/officeDocument/2006/relationships/image" Target="../media/image-1012-2.png"/><Relationship Id="rId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3-1.png"/><Relationship Id="rId2" Type="http://schemas.openxmlformats.org/officeDocument/2006/relationships/image" Target="../media/image-1013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slideLayout" Target="../slideLayouts/slideLayout6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slideLayout" Target="../slideLayouts/slideLayout9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Wildfire Cause Prediction Using Machine Learning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Team 6: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Akshay Govind &amp; Varun Singh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INFO 6105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– Data Science Engineering Methods and Tools Northeastern University, Spring 2026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6532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Agenda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827728"/>
            <a:ext cx="6407944" cy="1760934"/>
          </a:xfrm>
          <a:prstGeom prst="roundRect">
            <a:avLst>
              <a:gd name="adj" fmla="val 11593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3464" y="207740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C833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0630" y="2264450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3464" y="29846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428548" y="1827728"/>
            <a:ext cx="6408063" cy="1760934"/>
          </a:xfrm>
          <a:prstGeom prst="roundRect">
            <a:avLst>
              <a:gd name="adj" fmla="val 11593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78222" y="207740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C8337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65388" y="2264450"/>
            <a:ext cx="306110" cy="3061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678222" y="29846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Dataset Overview</a:t>
            </a:r>
            <a:endParaRPr lang="en-US" sz="2200" dirty="0"/>
          </a:p>
        </p:txBody>
      </p:sp>
      <p:sp>
        <p:nvSpPr>
          <p:cNvPr id="11" name="Shape 7"/>
          <p:cNvSpPr/>
          <p:nvPr/>
        </p:nvSpPr>
        <p:spPr>
          <a:xfrm>
            <a:off x="793790" y="3815477"/>
            <a:ext cx="6407944" cy="1760934"/>
          </a:xfrm>
          <a:prstGeom prst="roundRect">
            <a:avLst>
              <a:gd name="adj" fmla="val 11593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043464" y="4065151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C8337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30630" y="4252198"/>
            <a:ext cx="306110" cy="30611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43464" y="4972407"/>
            <a:ext cx="476488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Feature Engineering &amp; Methodology</a:t>
            </a:r>
            <a:endParaRPr lang="en-US" sz="2200" dirty="0"/>
          </a:p>
        </p:txBody>
      </p:sp>
      <p:sp>
        <p:nvSpPr>
          <p:cNvPr id="15" name="Shape 10"/>
          <p:cNvSpPr/>
          <p:nvPr/>
        </p:nvSpPr>
        <p:spPr>
          <a:xfrm>
            <a:off x="7428548" y="3815477"/>
            <a:ext cx="6408063" cy="1760934"/>
          </a:xfrm>
          <a:prstGeom prst="roundRect">
            <a:avLst>
              <a:gd name="adj" fmla="val 11593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678222" y="4065151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C8337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65388" y="4252198"/>
            <a:ext cx="306110" cy="30611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678222" y="49724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EDA Highlights</a:t>
            </a:r>
            <a:endParaRPr lang="en-US" sz="2200" dirty="0"/>
          </a:p>
        </p:txBody>
      </p:sp>
      <p:sp>
        <p:nvSpPr>
          <p:cNvPr id="19" name="Shape 13"/>
          <p:cNvSpPr/>
          <p:nvPr/>
        </p:nvSpPr>
        <p:spPr>
          <a:xfrm>
            <a:off x="793790" y="5803225"/>
            <a:ext cx="6407944" cy="1760934"/>
          </a:xfrm>
          <a:prstGeom prst="roundRect">
            <a:avLst>
              <a:gd name="adj" fmla="val 11593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1043464" y="6052899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C8337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30630" y="6239947"/>
            <a:ext cx="306110" cy="30611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43464" y="69601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Models &amp; Results</a:t>
            </a:r>
            <a:endParaRPr lang="en-US" sz="2200" dirty="0"/>
          </a:p>
        </p:txBody>
      </p:sp>
      <p:sp>
        <p:nvSpPr>
          <p:cNvPr id="23" name="Shape 16"/>
          <p:cNvSpPr/>
          <p:nvPr/>
        </p:nvSpPr>
        <p:spPr>
          <a:xfrm>
            <a:off x="7428548" y="5803225"/>
            <a:ext cx="6408063" cy="1760934"/>
          </a:xfrm>
          <a:prstGeom prst="roundRect">
            <a:avLst>
              <a:gd name="adj" fmla="val 11593"/>
            </a:avLst>
          </a:prstGeom>
          <a:solidFill>
            <a:srgbClr val="030303"/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7678222" y="6052899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FC8337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865388" y="6239947"/>
            <a:ext cx="306110" cy="30611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678222" y="6960156"/>
            <a:ext cx="339625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Conclusion &amp; Future Work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63270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Problem Statement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9084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The Challenge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80190" y="3489603"/>
            <a:ext cx="3501509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year, thousands of wildfires ignite across the United States. Our goal: develop a machine learning system to automatically classify whether a wildfire was caused by human activity or natural phenomena (lightning strikes).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10342721" y="29084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Binary Classification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342721" y="3489603"/>
            <a:ext cx="3501509" cy="1530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 = Natural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(Lightning)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 = Human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(Arson, Debris Burning, Campfire, Equipment Use, etc.)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0342721" y="5224582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Dataset: 1.88 million wildfire records from 1992–2015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89201" y="1005007"/>
            <a:ext cx="3591878" cy="448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989201" y="1662232"/>
            <a:ext cx="8138398" cy="474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700"/>
              </a:lnSpc>
              <a:buNone/>
            </a:pPr>
            <a:r>
              <a:rPr lang="en-US" sz="37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1.88M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9160431" y="2276356"/>
            <a:ext cx="1795939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Wildfire Records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989201" y="2555319"/>
            <a:ext cx="8138398" cy="187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USDA Forest Service database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989201" y="2996803"/>
            <a:ext cx="8138398" cy="474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700"/>
              </a:lnSpc>
              <a:buNone/>
            </a:pPr>
            <a:r>
              <a:rPr lang="en-US" sz="37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52</a:t>
            </a:r>
            <a:endParaRPr lang="en-US" sz="3700" dirty="0"/>
          </a:p>
        </p:txBody>
      </p:sp>
      <p:sp>
        <p:nvSpPr>
          <p:cNvPr id="8" name="Text 5"/>
          <p:cNvSpPr/>
          <p:nvPr/>
        </p:nvSpPr>
        <p:spPr>
          <a:xfrm>
            <a:off x="9160431" y="3610928"/>
            <a:ext cx="1795939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US States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989201" y="3889891"/>
            <a:ext cx="8138398" cy="187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Coverage across all regions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89201" y="4331375"/>
            <a:ext cx="8138398" cy="474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700"/>
              </a:lnSpc>
              <a:buNone/>
            </a:pPr>
            <a:r>
              <a:rPr lang="en-US" sz="37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1992-2015</a:t>
            </a:r>
            <a:endParaRPr lang="en-US" sz="3700" dirty="0"/>
          </a:p>
        </p:txBody>
      </p:sp>
      <p:sp>
        <p:nvSpPr>
          <p:cNvPr id="11" name="Text 8"/>
          <p:cNvSpPr/>
          <p:nvPr/>
        </p:nvSpPr>
        <p:spPr>
          <a:xfrm>
            <a:off x="9160431" y="4945499"/>
            <a:ext cx="1795939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Time Span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989201" y="5224463"/>
            <a:ext cx="8138398" cy="187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 years of historical data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989201" y="5665946"/>
            <a:ext cx="8138398" cy="474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700"/>
              </a:lnSpc>
              <a:buNone/>
            </a:pPr>
            <a:r>
              <a:rPr lang="en-US" sz="37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12</a:t>
            </a:r>
            <a:endParaRPr lang="en-US" sz="3700" dirty="0"/>
          </a:p>
        </p:txBody>
      </p:sp>
      <p:sp>
        <p:nvSpPr>
          <p:cNvPr id="14" name="Text 11"/>
          <p:cNvSpPr/>
          <p:nvPr/>
        </p:nvSpPr>
        <p:spPr>
          <a:xfrm>
            <a:off x="9160431" y="6280071"/>
            <a:ext cx="1795939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Features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989201" y="6559034"/>
            <a:ext cx="8138398" cy="187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After cleaning and engineering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989201" y="6849070"/>
            <a:ext cx="8138398" cy="375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Original 777 MB SQLite database with 39 raw columns, cleaned to 1,713,742 rows with 12 engineered features. </a:t>
            </a:r>
            <a:pPr algn="l"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Class imbalance:</a:t>
            </a:r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83.8% human-caused vs 16.2% natural fires (5.2:1 ratio).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0844" y="747713"/>
            <a:ext cx="4546640" cy="568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Feature Engineering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1040844" y="1607582"/>
            <a:ext cx="6201489" cy="1718905"/>
          </a:xfrm>
          <a:prstGeom prst="roundRect">
            <a:avLst>
              <a:gd name="adj" fmla="val 9522"/>
            </a:avLst>
          </a:prstGeom>
          <a:solidFill>
            <a:srgbClr val="030303"/>
          </a:solidFill>
          <a:ln w="15240">
            <a:solidFill>
              <a:srgbClr val="FC83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37893" y="1804630"/>
            <a:ext cx="545544" cy="545544"/>
          </a:xfrm>
          <a:prstGeom prst="roundRect">
            <a:avLst>
              <a:gd name="adj" fmla="val 16759575"/>
            </a:avLst>
          </a:prstGeom>
          <a:solidFill>
            <a:srgbClr val="FC833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87912" y="1954530"/>
            <a:ext cx="245507" cy="24550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7893" y="2495907"/>
            <a:ext cx="2273260" cy="284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Fire Size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237893" y="2867382"/>
            <a:ext cx="5807393" cy="262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Acres burned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388066" y="1607582"/>
            <a:ext cx="6201489" cy="1718905"/>
          </a:xfrm>
          <a:prstGeom prst="roundRect">
            <a:avLst>
              <a:gd name="adj" fmla="val 9522"/>
            </a:avLst>
          </a:prstGeom>
          <a:solidFill>
            <a:srgbClr val="030303"/>
          </a:solidFill>
          <a:ln w="15240">
            <a:solidFill>
              <a:srgbClr val="FC833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585115" y="1804630"/>
            <a:ext cx="545544" cy="545544"/>
          </a:xfrm>
          <a:prstGeom prst="roundRect">
            <a:avLst>
              <a:gd name="adj" fmla="val 16759575"/>
            </a:avLst>
          </a:prstGeom>
          <a:solidFill>
            <a:srgbClr val="FC833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35133" y="1954530"/>
            <a:ext cx="245507" cy="24550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585115" y="2495907"/>
            <a:ext cx="2273260" cy="284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Latitude &amp; Longitude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7585115" y="2867382"/>
            <a:ext cx="5807393" cy="262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Geographic coordinates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1040844" y="3472220"/>
            <a:ext cx="6201489" cy="1718905"/>
          </a:xfrm>
          <a:prstGeom prst="roundRect">
            <a:avLst>
              <a:gd name="adj" fmla="val 9522"/>
            </a:avLst>
          </a:prstGeom>
          <a:solidFill>
            <a:srgbClr val="030303"/>
          </a:solidFill>
          <a:ln w="15240">
            <a:solidFill>
              <a:srgbClr val="FC833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237893" y="3669268"/>
            <a:ext cx="545544" cy="545544"/>
          </a:xfrm>
          <a:prstGeom prst="roundRect">
            <a:avLst>
              <a:gd name="adj" fmla="val 16759575"/>
            </a:avLst>
          </a:prstGeom>
          <a:solidFill>
            <a:srgbClr val="FC833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87912" y="3819168"/>
            <a:ext cx="245507" cy="24550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37893" y="4360545"/>
            <a:ext cx="2273260" cy="284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Fire Year &amp; Season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1237893" y="4732020"/>
            <a:ext cx="5807393" cy="262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Temporal features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7388066" y="3472220"/>
            <a:ext cx="6201489" cy="1718905"/>
          </a:xfrm>
          <a:prstGeom prst="roundRect">
            <a:avLst>
              <a:gd name="adj" fmla="val 9522"/>
            </a:avLst>
          </a:prstGeom>
          <a:solidFill>
            <a:srgbClr val="030303"/>
          </a:solidFill>
          <a:ln w="15240">
            <a:solidFill>
              <a:srgbClr val="FC833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585115" y="3669268"/>
            <a:ext cx="545544" cy="545544"/>
          </a:xfrm>
          <a:prstGeom prst="roundRect">
            <a:avLst>
              <a:gd name="adj" fmla="val 16759575"/>
            </a:avLst>
          </a:prstGeom>
          <a:solidFill>
            <a:srgbClr val="FC8337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35133" y="3819168"/>
            <a:ext cx="245507" cy="24550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585115" y="4360545"/>
            <a:ext cx="2273260" cy="284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Region</a:t>
            </a:r>
            <a:endParaRPr lang="en-US" sz="1750" dirty="0"/>
          </a:p>
        </p:txBody>
      </p:sp>
      <p:sp>
        <p:nvSpPr>
          <p:cNvPr id="22" name="Text 16"/>
          <p:cNvSpPr/>
          <p:nvPr/>
        </p:nvSpPr>
        <p:spPr>
          <a:xfrm>
            <a:off x="7585115" y="4732020"/>
            <a:ext cx="5807393" cy="262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West/Central/East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1040844" y="5336858"/>
            <a:ext cx="6201489" cy="1718905"/>
          </a:xfrm>
          <a:prstGeom prst="roundRect">
            <a:avLst>
              <a:gd name="adj" fmla="val 9522"/>
            </a:avLst>
          </a:prstGeom>
          <a:solidFill>
            <a:srgbClr val="030303"/>
          </a:solidFill>
          <a:ln w="15240">
            <a:solidFill>
              <a:srgbClr val="FC8337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1237893" y="5533906"/>
            <a:ext cx="545544" cy="545544"/>
          </a:xfrm>
          <a:prstGeom prst="roundRect">
            <a:avLst>
              <a:gd name="adj" fmla="val 16759575"/>
            </a:avLst>
          </a:prstGeom>
          <a:solidFill>
            <a:srgbClr val="FC8337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87912" y="5683806"/>
            <a:ext cx="245507" cy="245507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237893" y="6225183"/>
            <a:ext cx="2273260" cy="284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Is_Drought_Season</a:t>
            </a:r>
            <a:endParaRPr lang="en-US" sz="1750" dirty="0"/>
          </a:p>
        </p:txBody>
      </p:sp>
      <p:sp>
        <p:nvSpPr>
          <p:cNvPr id="27" name="Text 20"/>
          <p:cNvSpPr/>
          <p:nvPr/>
        </p:nvSpPr>
        <p:spPr>
          <a:xfrm>
            <a:off x="1237893" y="6596658"/>
            <a:ext cx="5807393" cy="262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Seasonal drought indicator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7388066" y="5336858"/>
            <a:ext cx="6201489" cy="1718905"/>
          </a:xfrm>
          <a:prstGeom prst="roundRect">
            <a:avLst>
              <a:gd name="adj" fmla="val 9522"/>
            </a:avLst>
          </a:prstGeom>
          <a:solidFill>
            <a:srgbClr val="030303"/>
          </a:solidFill>
          <a:ln w="15240">
            <a:solidFill>
              <a:srgbClr val="FC8337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7585115" y="5533906"/>
            <a:ext cx="545544" cy="545544"/>
          </a:xfrm>
          <a:prstGeom prst="roundRect">
            <a:avLst>
              <a:gd name="adj" fmla="val 16759575"/>
            </a:avLst>
          </a:prstGeom>
          <a:solidFill>
            <a:srgbClr val="FC8337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735133" y="5683806"/>
            <a:ext cx="245507" cy="245507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585115" y="6225183"/>
            <a:ext cx="2273260" cy="284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Owner_Type</a:t>
            </a:r>
            <a:endParaRPr lang="en-US" sz="1750" dirty="0"/>
          </a:p>
        </p:txBody>
      </p:sp>
      <p:sp>
        <p:nvSpPr>
          <p:cNvPr id="32" name="Text 24"/>
          <p:cNvSpPr/>
          <p:nvPr/>
        </p:nvSpPr>
        <p:spPr>
          <a:xfrm>
            <a:off x="7585115" y="6596658"/>
            <a:ext cx="5807393" cy="262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Federal/State/Private land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1040844" y="7219712"/>
            <a:ext cx="12548711" cy="262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Additional features: Fire Size Class, State, Response Time, State_Fire_Rate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0423" y="634841"/>
            <a:ext cx="5386388" cy="673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Methodology</a:t>
            </a:r>
            <a:endParaRPr lang="en-US" sz="42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0423" y="1615083"/>
            <a:ext cx="1077278" cy="15623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22250" y="1830467"/>
            <a:ext cx="2693194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Data Cleaning</a:t>
            </a:r>
            <a:endParaRPr lang="en-US" sz="2100" dirty="0"/>
          </a:p>
        </p:txBody>
      </p:sp>
      <p:sp>
        <p:nvSpPr>
          <p:cNvPr id="6" name="Text 2"/>
          <p:cNvSpPr/>
          <p:nvPr/>
        </p:nvSpPr>
        <p:spPr>
          <a:xfrm>
            <a:off x="7522250" y="2289810"/>
            <a:ext cx="6354128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Removed 166K unknown-cause rows, converted Julian dates, filled missing response times</a:t>
            </a:r>
            <a:endParaRPr lang="en-US" sz="16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423" y="3177421"/>
            <a:ext cx="1077278" cy="156233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522250" y="3392805"/>
            <a:ext cx="2693194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Feature Engineering</a:t>
            </a:r>
            <a:endParaRPr lang="en-US" sz="2100" dirty="0"/>
          </a:p>
        </p:txBody>
      </p:sp>
      <p:sp>
        <p:nvSpPr>
          <p:cNvPr id="9" name="Text 4"/>
          <p:cNvSpPr/>
          <p:nvPr/>
        </p:nvSpPr>
        <p:spPr>
          <a:xfrm>
            <a:off x="7522250" y="3852148"/>
            <a:ext cx="6354128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Created 5 new features including season, drought indicator, region, fire rate, owner type</a:t>
            </a:r>
            <a:endParaRPr lang="en-US" sz="16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0423" y="4739759"/>
            <a:ext cx="1077278" cy="129266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522250" y="4955143"/>
            <a:ext cx="2693194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Train/Test Split</a:t>
            </a:r>
            <a:endParaRPr lang="en-US" sz="2100" dirty="0"/>
          </a:p>
        </p:txBody>
      </p:sp>
      <p:sp>
        <p:nvSpPr>
          <p:cNvPr id="12" name="Text 6"/>
          <p:cNvSpPr/>
          <p:nvPr/>
        </p:nvSpPr>
        <p:spPr>
          <a:xfrm>
            <a:off x="7522250" y="5414486"/>
            <a:ext cx="6354128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80/20 stratified split (1.37M train, 342K test)</a:t>
            </a:r>
            <a:endParaRPr lang="en-US" sz="16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0423" y="6032421"/>
            <a:ext cx="1077278" cy="156233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522250" y="6247805"/>
            <a:ext cx="2693194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Scaling</a:t>
            </a:r>
            <a:endParaRPr lang="en-US" sz="2100" dirty="0"/>
          </a:p>
        </p:txBody>
      </p:sp>
      <p:sp>
        <p:nvSpPr>
          <p:cNvPr id="15" name="Text 8"/>
          <p:cNvSpPr/>
          <p:nvPr/>
        </p:nvSpPr>
        <p:spPr>
          <a:xfrm>
            <a:off x="7522250" y="6707148"/>
            <a:ext cx="6354128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StandardScaler fit on training data only, LabelEncoder for categorical columns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954" y="633532"/>
            <a:ext cx="7588091" cy="1389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Exploratory Data Analysis Highlights</a:t>
            </a:r>
            <a:endParaRPr lang="en-US" sz="4350" dirty="0"/>
          </a:p>
        </p:txBody>
      </p:sp>
      <p:sp>
        <p:nvSpPr>
          <p:cNvPr id="4" name="Shape 1"/>
          <p:cNvSpPr/>
          <p:nvPr/>
        </p:nvSpPr>
        <p:spPr>
          <a:xfrm>
            <a:off x="777954" y="2349698"/>
            <a:ext cx="3685103" cy="2039660"/>
          </a:xfrm>
          <a:prstGeom prst="roundRect">
            <a:avLst>
              <a:gd name="adj" fmla="val 9809"/>
            </a:avLst>
          </a:prstGeom>
          <a:solidFill>
            <a:srgbClr val="030303">
              <a:alpha val="75000"/>
            </a:srgbClr>
          </a:solidFill>
          <a:ln w="30480">
            <a:solidFill>
              <a:srgbClr val="FC833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30724" y="2602468"/>
            <a:ext cx="2778681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Most Common Cause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1030724" y="3080385"/>
            <a:ext cx="3179564" cy="1056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Debris Burning accounts for the largest share of human-caused wildfires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0823" y="2349698"/>
            <a:ext cx="3685223" cy="2039660"/>
          </a:xfrm>
          <a:prstGeom prst="roundRect">
            <a:avLst>
              <a:gd name="adj" fmla="val 9809"/>
            </a:avLst>
          </a:prstGeom>
          <a:solidFill>
            <a:srgbClr val="030303">
              <a:alpha val="75000"/>
            </a:srgbClr>
          </a:solidFill>
          <a:ln w="30480">
            <a:solidFill>
              <a:srgbClr val="FC833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33593" y="2602468"/>
            <a:ext cx="2778681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Top Fire States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4933593" y="3080385"/>
            <a:ext cx="3179683" cy="704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California, Georgia, and Texas lead in total fire counts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77954" y="4607123"/>
            <a:ext cx="7588091" cy="1687592"/>
          </a:xfrm>
          <a:prstGeom prst="roundRect">
            <a:avLst>
              <a:gd name="adj" fmla="val 11855"/>
            </a:avLst>
          </a:prstGeom>
          <a:solidFill>
            <a:srgbClr val="030303">
              <a:alpha val="75000"/>
            </a:srgbClr>
          </a:solidFill>
          <a:ln w="30480">
            <a:solidFill>
              <a:srgbClr val="FC833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30724" y="4859893"/>
            <a:ext cx="2778681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Geographic Pattern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1030724" y="5337810"/>
            <a:ext cx="7082552" cy="704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Human-caused fires dominate the eastern US; natural fires spread across the West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777954" y="6539746"/>
            <a:ext cx="7588091" cy="1056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Fire frequency peaks dramatically in summer months. Larger fires are slightly more likely to be natural. </a:t>
            </a:r>
            <a:pPr algn="l" indent="0" marL="0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Geographic location</a:t>
            </a:r>
            <a:pPr algn="l" indent="0" marL="0">
              <a:lnSpc>
                <a:spcPts val="27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is the strongest predictive signal.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4003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Models Trained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2402443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Logistic Regression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743325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Baseline model with class_weight=balanced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893" y="2402443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LinearSVC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3743325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Same settings as logistic regression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77995" y="2402443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K-Nearest Neighbors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3743325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k=15, trained on 100K stratified sample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4922758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93790" y="57732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Decision Tree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93790" y="6263640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max_depth=5 for interpretability</a:t>
            </a:r>
            <a:endParaRPr lang="en-US" sz="17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35893" y="4922758"/>
            <a:ext cx="566976" cy="56697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235893" y="57732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Random Forest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5235893" y="6263640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GridSearchCV tuned: 200 trees, max_depth=30, min_samples_leaf=1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5590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Results Comparison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718316"/>
            <a:ext cx="13042821" cy="3955256"/>
          </a:xfrm>
          <a:prstGeom prst="roundRect">
            <a:avLst>
              <a:gd name="adj" fmla="val 5161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462" y="2869644"/>
            <a:ext cx="280320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4285298" y="2869644"/>
            <a:ext cx="280320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Accuracy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42133" y="2869644"/>
            <a:ext cx="280320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F1 Score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0798969" y="2869644"/>
            <a:ext cx="280320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ROC AUC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028462" y="3527584"/>
            <a:ext cx="280320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Logistic Regression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4285298" y="3527584"/>
            <a:ext cx="280320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80.9%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42133" y="3527584"/>
            <a:ext cx="280320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0.8758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10798969" y="3527584"/>
            <a:ext cx="280320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0.8834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028462" y="4185523"/>
            <a:ext cx="280320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SVM (LinearSVC)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4285298" y="4185523"/>
            <a:ext cx="280320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80.9%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542133" y="4185523"/>
            <a:ext cx="280320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0.8756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10798969" y="4185523"/>
            <a:ext cx="280320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0.8822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1028462" y="4843463"/>
            <a:ext cx="280320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KNN (k=15)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4285298" y="4843463"/>
            <a:ext cx="280320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90.7%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542133" y="4843463"/>
            <a:ext cx="280320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0.9452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10798969" y="4843463"/>
            <a:ext cx="280320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0.9215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1028462" y="5501402"/>
            <a:ext cx="280320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Decision Tree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4285298" y="5501402"/>
            <a:ext cx="280320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85.8%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7542133" y="5501402"/>
            <a:ext cx="280320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0.9103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10798969" y="5501402"/>
            <a:ext cx="280320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0.9138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1028462" y="6159341"/>
            <a:ext cx="280320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Random Forest (Best)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4285298" y="6159341"/>
            <a:ext cx="280320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93.2%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7542133" y="6159341"/>
            <a:ext cx="280320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0.9598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10798969" y="6159341"/>
            <a:ext cx="280320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0.9579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4605" y="527685"/>
            <a:ext cx="8859560" cy="517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2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Hyperparameter Tuning &amp; Feature Importance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1604605" y="3120271"/>
            <a:ext cx="2073712" cy="258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GridSearchCV Results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604605" y="3499604"/>
            <a:ext cx="3734752" cy="457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Tested 27 hyperparameter combinations across n_estimators, max_depth, and min_samples_leaf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604605" y="4066222"/>
            <a:ext cx="3734752" cy="457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Best parameters:</a:t>
            </a:r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n_estimators=200, max_depth=30, min_samples_leaf=1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04605" y="4644866"/>
            <a:ext cx="2205871" cy="258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5-Fold CV Performance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04605" y="5024199"/>
            <a:ext cx="3734752" cy="457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F1 scores: [0.9585, 0.9590, 0.9592, 0.9591, 0.9590] Mean: 0.9590 | Std: 0.0003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04605" y="5590818"/>
            <a:ext cx="3734752" cy="228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Stable model with no overfitting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0838" y="1361956"/>
            <a:ext cx="7282339" cy="40645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750838" y="5562362"/>
            <a:ext cx="2068949" cy="258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Top Features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750838" y="5941695"/>
            <a:ext cx="7282339" cy="13138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00"/>
              </a:lnSpc>
              <a:buSzPct val="100000"/>
              <a:buFont typeface="+mj-lt"/>
              <a:buAutoNum type="arabicPeriod" startAt="1"/>
            </a:pPr>
            <a:r>
              <a:rPr lang="en-US" sz="13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Longitude</a:t>
            </a:r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(0.267 importance)</a:t>
            </a:r>
            <a:endParaRPr lang="en-US" sz="1300" dirty="0"/>
          </a:p>
          <a:p>
            <a:pPr algn="l" marL="342900" indent="-342900">
              <a:lnSpc>
                <a:spcPts val="1800"/>
              </a:lnSpc>
              <a:buSzPct val="100000"/>
              <a:buFont typeface="+mj-lt"/>
              <a:buAutoNum type="arabicPeriod" startAt="2"/>
            </a:pPr>
            <a:r>
              <a:rPr lang="en-US" sz="13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Latitude</a:t>
            </a:r>
            <a:endParaRPr lang="en-US" sz="1300" dirty="0"/>
          </a:p>
          <a:p>
            <a:pPr algn="l" marL="342900" indent="-342900">
              <a:lnSpc>
                <a:spcPts val="1800"/>
              </a:lnSpc>
              <a:buSzPct val="100000"/>
              <a:buFont typeface="+mj-lt"/>
              <a:buAutoNum type="arabicPeriod" startAt="3"/>
            </a:pPr>
            <a:r>
              <a:rPr lang="en-US" sz="13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Owner_Type</a:t>
            </a:r>
            <a:endParaRPr lang="en-US" sz="1300" dirty="0"/>
          </a:p>
          <a:p>
            <a:pPr algn="l" marL="342900" indent="-342900">
              <a:lnSpc>
                <a:spcPts val="1800"/>
              </a:lnSpc>
              <a:buSzPct val="100000"/>
              <a:buFont typeface="+mj-lt"/>
              <a:buAutoNum type="arabicPeriod" startAt="4"/>
            </a:pPr>
            <a:r>
              <a:rPr lang="en-US" sz="13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Is_Drought_Season</a:t>
            </a:r>
            <a:endParaRPr lang="en-US" sz="1300" dirty="0"/>
          </a:p>
          <a:p>
            <a:pPr algn="l" marL="342900" indent="-342900">
              <a:lnSpc>
                <a:spcPts val="1800"/>
              </a:lnSpc>
              <a:buSzPct val="100000"/>
              <a:buFont typeface="+mj-lt"/>
              <a:buAutoNum type="arabicPeriod" startAt="5"/>
            </a:pPr>
            <a:r>
              <a:rPr lang="en-US" sz="13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750838" y="7364254"/>
            <a:ext cx="7282339" cy="228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Geographic features account for &gt;50% of predictive power. Engineered features validated in top 5.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4252" y="909399"/>
            <a:ext cx="5856327" cy="610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Conclusion &amp; Future Work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84252" y="1857256"/>
            <a:ext cx="6546652" cy="1134427"/>
          </a:xfrm>
          <a:prstGeom prst="roundRect">
            <a:avLst>
              <a:gd name="adj" fmla="val 9673"/>
            </a:avLst>
          </a:prstGeom>
          <a:solidFill>
            <a:srgbClr val="030303">
              <a:alpha val="75000"/>
            </a:srgbClr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1392" y="1857256"/>
            <a:ext cx="91440" cy="1134427"/>
          </a:xfrm>
          <a:prstGeom prst="roundRect">
            <a:avLst>
              <a:gd name="adj" fmla="val 192431"/>
            </a:avLst>
          </a:prstGeom>
          <a:solidFill>
            <a:srgbClr val="FC8337"/>
          </a:solidFill>
          <a:ln/>
        </p:spPr>
      </p:sp>
      <p:sp>
        <p:nvSpPr>
          <p:cNvPr id="5" name="Text 3"/>
          <p:cNvSpPr/>
          <p:nvPr/>
        </p:nvSpPr>
        <p:spPr>
          <a:xfrm>
            <a:off x="971193" y="2075617"/>
            <a:ext cx="2443758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Best Model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71193" y="2482215"/>
            <a:ext cx="6041350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Random Forest achieved F1=0.9598 and AUC=0.9579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99377" y="1857256"/>
            <a:ext cx="6546771" cy="1134427"/>
          </a:xfrm>
          <a:prstGeom prst="roundRect">
            <a:avLst>
              <a:gd name="adj" fmla="val 9673"/>
            </a:avLst>
          </a:prstGeom>
          <a:solidFill>
            <a:srgbClr val="030303">
              <a:alpha val="75000"/>
            </a:srgbClr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76517" y="1857256"/>
            <a:ext cx="91440" cy="1134427"/>
          </a:xfrm>
          <a:prstGeom prst="roundRect">
            <a:avLst>
              <a:gd name="adj" fmla="val 192431"/>
            </a:avLst>
          </a:prstGeom>
          <a:solidFill>
            <a:srgbClr val="FC8337"/>
          </a:solidFill>
          <a:ln/>
        </p:spPr>
      </p:sp>
      <p:sp>
        <p:nvSpPr>
          <p:cNvPr id="9" name="Text 7"/>
          <p:cNvSpPr/>
          <p:nvPr/>
        </p:nvSpPr>
        <p:spPr>
          <a:xfrm>
            <a:off x="7686318" y="2075617"/>
            <a:ext cx="2804041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Linear Models Plateaued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686318" y="2482215"/>
            <a:ext cx="6041469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F1≈0.876 — linear boundaries can't capture geographic complexity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4252" y="3160157"/>
            <a:ext cx="6546652" cy="2007751"/>
          </a:xfrm>
          <a:prstGeom prst="roundRect">
            <a:avLst>
              <a:gd name="adj" fmla="val 5465"/>
            </a:avLst>
          </a:prstGeom>
          <a:solidFill>
            <a:srgbClr val="030303">
              <a:alpha val="75000"/>
            </a:srgbClr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1392" y="3160157"/>
            <a:ext cx="91440" cy="2007751"/>
          </a:xfrm>
          <a:prstGeom prst="roundRect">
            <a:avLst>
              <a:gd name="adj" fmla="val 192431"/>
            </a:avLst>
          </a:prstGeom>
          <a:solidFill>
            <a:srgbClr val="FC8337"/>
          </a:solidFill>
          <a:ln/>
        </p:spPr>
      </p:sp>
      <p:sp>
        <p:nvSpPr>
          <p:cNvPr id="13" name="Text 11"/>
          <p:cNvSpPr/>
          <p:nvPr/>
        </p:nvSpPr>
        <p:spPr>
          <a:xfrm>
            <a:off x="971193" y="3378518"/>
            <a:ext cx="2443758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Key Insight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971193" y="3785116"/>
            <a:ext cx="6041350" cy="582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Location (longitude/latitude) is more predictive than timing or fire size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99377" y="3160157"/>
            <a:ext cx="6546771" cy="2007751"/>
          </a:xfrm>
          <a:prstGeom prst="roundRect">
            <a:avLst>
              <a:gd name="adj" fmla="val 5465"/>
            </a:avLst>
          </a:prstGeom>
          <a:solidFill>
            <a:srgbClr val="030303">
              <a:alpha val="75000"/>
            </a:srgbClr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76517" y="3160157"/>
            <a:ext cx="91440" cy="2007751"/>
          </a:xfrm>
          <a:prstGeom prst="roundRect">
            <a:avLst>
              <a:gd name="adj" fmla="val 192431"/>
            </a:avLst>
          </a:prstGeom>
          <a:solidFill>
            <a:srgbClr val="FC8337"/>
          </a:solidFill>
          <a:ln/>
        </p:spPr>
      </p:sp>
      <p:sp>
        <p:nvSpPr>
          <p:cNvPr id="17" name="Text 15"/>
          <p:cNvSpPr/>
          <p:nvPr/>
        </p:nvSpPr>
        <p:spPr>
          <a:xfrm>
            <a:off x="7686318" y="3378518"/>
            <a:ext cx="2470785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Improvement Sources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7686318" y="3785116"/>
            <a:ext cx="6041469" cy="1164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Feature engineering contributed +0.08 F1; GridSearchCV confirmed optimal parameters (n_estimators=200, max_depth=30, min_samples_leaf=1); baseline RF already achieved F1=0.9597, tuning improved AUC by +0.0032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4252" y="5420678"/>
            <a:ext cx="3506748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Limitations &amp; Future Directions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84252" y="5978962"/>
            <a:ext cx="13261896" cy="1341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weather data (temperature, humidity, wind)</a:t>
            </a:r>
            <a:endParaRPr lang="en-US" sz="1500" dirty="0"/>
          </a:p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KNN limited to 100K sample due to computational constraints</a:t>
            </a:r>
            <a:endParaRPr lang="en-US" sz="1500" dirty="0"/>
          </a:p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covers only 1992–2015</a:t>
            </a:r>
            <a:endParaRPr lang="en-US" sz="1500" dirty="0"/>
          </a:p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Future: integrate NOAA weather data, try XGBoost/LightGBM, build multi-class classifier, deploy as real-time API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04311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Thank You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20552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Akshay Govind &amp; Varun Singh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82357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INFO 6105 - Northeastern University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2026-04-08T02:40:47Z</dcterms:created>
  <dcterms:modified xsi:type="dcterms:W3CDTF">2026-04-08T02:40:47Z</dcterms:modified>
</cp:coreProperties>
</file>